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/guid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REST APIとMCP - 5分でわかる比較ガイド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対象:</a:t>
            </a:r>
            <a:r>
              <a:rPr/>
              <a:t> 非エンジニアのビジネスユーザー、企画担当者、マネージャー</a:t>
            </a:r>
          </a:p>
          <a:p>
            <a:pPr lvl="0" indent="0" marL="0">
              <a:buNone/>
            </a:pPr>
            <a:r>
              <a:rPr b="1"/>
              <a:t>読了時間:</a:t>
            </a:r>
            <a:r>
              <a:rPr/>
              <a:t> 5分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🤔 そもそも何が違うの？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一言で言うと</a:t>
            </a:r>
          </a:p>
          <a:p>
            <a:pPr lvl="0" indent="0" marL="0">
              <a:buNone/>
            </a:pPr>
            <a:r>
              <a:rPr b="1"/>
              <a:t>REST API:</a:t>
            </a:r>
            <a:r>
              <a:rPr/>
              <a:t> レストランのメニュー（紙）</a:t>
            </a:r>
            <a:br/>
            <a:r>
              <a:rPr b="1"/>
              <a:t>MCP:</a:t>
            </a:r>
            <a:r>
              <a:rPr/>
              <a:t> スマートなウェイター（AI対応）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📖 レストランの例えで理解する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REST API = 紙のメニュー方式</a:t>
            </a:r>
          </a:p>
          <a:p>
            <a:pPr lvl="0" indent="0">
              <a:buNone/>
            </a:pPr>
            <a:r>
              <a:rPr>
                <a:latin typeface="Courier"/>
              </a:rPr>
              <a:t>あなた（客）
  ↓
紙のメニューを見る
  ↓
「ハンバーグセット1つください」と注文
  ↓
ウェイター（システム）が持ってくる</a:t>
            </a:r>
          </a:p>
          <a:p>
            <a:pPr lvl="0" indent="0" marL="0">
              <a:buNone/>
            </a:pPr>
            <a:r>
              <a:rPr b="1"/>
              <a:t>特徴:</a:t>
            </a:r>
            <a:r>
              <a:rPr/>
              <a:t> - ✅ シンプルで分かりやすい - ✅ 誰でも使える（メニューさえ見れば） - ❌ メニューに載っていない料理は注文できない - ❌ 新しいメニューが増えても、紙のメニューは更新されない - ❌ ウェイターに「今日のおすすめは？」と聞けない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MCP = スマートウェイター方式</a:t>
            </a:r>
          </a:p>
          <a:p>
            <a:pPr lvl="0" indent="0">
              <a:buNone/>
            </a:pPr>
            <a:r>
              <a:rPr>
                <a:latin typeface="Courier"/>
              </a:rPr>
              <a:t>あなた（客）
  ↓
ウェイターに話しかける
  ↓
ウェイター「今日のメニューはこちらです」（自動で説明）
  ↓
ウェイター「アレルギーは？」「おすすめは？」（対話的）
  ↓
最適な料理を提案＆提供</a:t>
            </a:r>
          </a:p>
          <a:p>
            <a:pPr lvl="0" indent="0" marL="0">
              <a:buNone/>
            </a:pPr>
            <a:r>
              <a:rPr b="1"/>
              <a:t>特徴:</a:t>
            </a:r>
            <a:r>
              <a:rPr/>
              <a:t> - ✅ システム自身が「何ができるか」を説明してくれる - ✅ AIと対話しながら使える - ✅ メニューが変わっても自動で対応 - ✅ 「今日のおすすめは？」などの質問に答えられる - 💡 特にAIアシスタントとの相性が抜群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📊 実際の使い方の違い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タスク管理システムの例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REST API の場合</a:t>
            </a:r>
          </a:p>
          <a:p>
            <a:pPr lvl="0" indent="0" marL="0">
              <a:buNone/>
            </a:pPr>
            <a:r>
              <a:rPr b="1"/>
              <a:t>1. タスク一覧を見たい</a:t>
            </a:r>
          </a:p>
          <a:p>
            <a:pPr lvl="0" indent="0">
              <a:buNone/>
            </a:pPr>
            <a:r>
              <a:rPr>
                <a:latin typeface="Courier"/>
              </a:rPr>
              <a:t>→ 「GET /tasks というURLにアクセスしてください」
→ http://example.com/tasks を開く
→ タスク一覧が表示される</a:t>
            </a:r>
          </a:p>
          <a:p>
            <a:pPr lvl="0" indent="0" marL="0">
              <a:buNone/>
            </a:pPr>
            <a:r>
              <a:rPr b="1"/>
              <a:t>2. 新しいタスクを作りたい</a:t>
            </a:r>
          </a:p>
          <a:p>
            <a:pPr lvl="0" indent="0">
              <a:buNone/>
            </a:pPr>
            <a:r>
              <a:rPr>
                <a:latin typeface="Courier"/>
              </a:rPr>
              <a:t>→ 「POST /tasks というURLに、JSONデータを送ってください」
→ 専用のツール（curlなど）を使って送信
→ タスクが作成される</a:t>
            </a:r>
          </a:p>
          <a:p>
            <a:pPr lvl="0" indent="0" marL="0">
              <a:buNone/>
            </a:pPr>
            <a:r>
              <a:rPr b="1"/>
              <a:t>問題点:</a:t>
            </a:r>
            <a:r>
              <a:rPr/>
              <a:t> - どのURLにアクセスすればいいか、</a:t>
            </a:r>
            <a:r>
              <a:rPr b="1"/>
              <a:t>事前に知っておく必要がある</a:t>
            </a:r>
            <a:r>
              <a:rPr/>
              <a:t> - ドキュメントを読まないと使えない - AIに「タスクを作って」と言っても、まずドキュメントを読ませる必要がある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MCP の場合</a:t>
            </a:r>
          </a:p>
          <a:p>
            <a:pPr lvl="0" indent="0" marL="0">
              <a:buNone/>
            </a:pPr>
            <a:r>
              <a:rPr b="1"/>
              <a:t>1. タスク一覧を見たい</a:t>
            </a:r>
          </a:p>
          <a:p>
            <a:pPr lvl="0" indent="0">
              <a:buNone/>
            </a:pPr>
            <a:r>
              <a:rPr>
                <a:latin typeface="Courier"/>
              </a:rPr>
              <a:t>AI: 「何ができるか教えて」
→ システム: 「タスク一覧を見れます（task://list）」
→ AI: 「じゃあ見せて」
→ タスク一覧が表示される</a:t>
            </a:r>
          </a:p>
          <a:p>
            <a:pPr lvl="0" indent="0" marL="0">
              <a:buNone/>
            </a:pPr>
            <a:r>
              <a:rPr b="1"/>
              <a:t>2. 新しいタスクを作りたい</a:t>
            </a:r>
          </a:p>
          <a:p>
            <a:pPr lvl="0" indent="0">
              <a:buNone/>
            </a:pPr>
            <a:r>
              <a:rPr>
                <a:latin typeface="Courier"/>
              </a:rPr>
              <a:t>AI: 「どんな操作ができる？」
→ システム: 「create_task で新規作成できます。必要なのはタイトルです」
→ AI: 「タイトル『買い物』で作成して」
→ タスクが作成される</a:t>
            </a:r>
          </a:p>
          <a:p>
            <a:pPr lvl="0" indent="0" marL="0">
              <a:buNone/>
            </a:pPr>
            <a:r>
              <a:rPr b="1"/>
              <a:t>メリット:</a:t>
            </a:r>
            <a:r>
              <a:rPr/>
              <a:t> - システムに聞けば、</a:t>
            </a:r>
            <a:r>
              <a:rPr b="1"/>
              <a:t>何ができるか自動で教えてくれる</a:t>
            </a:r>
            <a:r>
              <a:rPr/>
              <a:t> - ドキュメントを読まなくても使える - AIが自然に使いこなせる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ビジネス上の違い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REST API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観点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評価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説明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導入のしやすさ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広く使われており、実績が豊富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開発コスト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標準的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ドキュメント作成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別途詳細なドキュメントが必要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AIとの連携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可能だが、事前設定が複雜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変更への対応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API変更時にドキュメント更新が必要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向いているケース:</a:t>
            </a:r>
            <a:r>
              <a:rPr/>
              <a:t> - Web サイトやモバイルアプリ - 外部に公開するAPI - 既存システムとの連携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MCP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観点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評価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説明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導入のしやすさ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新しい技術で学習が必要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開発コスト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初期投資はやや高め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ドキュメント作成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システム自体が説明するため最小限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AIとの連携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AIが自動的に理解して使える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変更への対応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システムが自己説明するため自動対応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向いているケース:</a:t>
            </a:r>
            <a:r>
              <a:rPr/>
              <a:t> - </a:t>
            </a:r>
            <a:r>
              <a:rPr b="1"/>
              <a:t>AIアシスタントとの統合</a:t>
            </a:r>
            <a:r>
              <a:rPr/>
              <a:t> - 社内の業務自動化ツール - エージェントシステム - 頻繁に機能が変わるシステム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💡 具体的なユースケース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REST API が適している例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ECサイトのAPI</a:t>
            </a:r>
            <a:r>
              <a:rPr/>
              <a:t> - 商品検索、カート、注文など、決まった操作が中心 - 多くのユーザーが同じ方法で使う - 外部パートナーにも公開する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SNSのAPI</a:t>
            </a:r>
            <a:r>
              <a:rPr/>
              <a:t> - 投稿、いいね、フォローなど、標準的な機能 - 広く使われる必要がある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MCP が適している例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AIアシスタント連携</a:t>
            </a:r>
            <a:r>
              <a:rPr/>
              <a:t> - 「来週の会議資料を準備して」→ AIが必要なツールを自動選択 - 「先月の売上をまとめて」→ AIがデータを取得・分析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社内業務の自動化</a:t>
            </a:r>
            <a:r>
              <a:rPr/>
              <a:t> - 機能が頻繁に追加・変更される - 部署ごとに使い方が違う - AI が文脈を理解して適切に操作する必要がある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複雑な業務フロー</a:t>
            </a:r>
            <a:r>
              <a:rPr/>
              <a:t> - 「承認が必要なタスクを洗い出して、優先度順に並べて」 - AIが複数のツールを組み合わせて実行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📈 将来性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REST API</a:t>
            </a:r>
          </a:p>
          <a:p>
            <a:pPr lvl="0"/>
            <a:r>
              <a:rPr/>
              <a:t>✅ すでに広く普及</a:t>
            </a:r>
          </a:p>
          <a:p>
            <a:pPr lvl="0"/>
            <a:r>
              <a:rPr/>
              <a:t>✅ 多くのツール・ライブラリがある</a:t>
            </a:r>
          </a:p>
          <a:p>
            <a:pPr lvl="0"/>
            <a:r>
              <a:rPr/>
              <a:t>⚠️ AI時代においては追加の工夫が必要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MCP</a:t>
            </a:r>
          </a:p>
          <a:p>
            <a:pPr lvl="0"/>
            <a:r>
              <a:rPr/>
              <a:t>🆕 2024年に登場した新しい技術</a:t>
            </a:r>
          </a:p>
          <a:p>
            <a:pPr lvl="0"/>
            <a:r>
              <a:rPr/>
              <a:t>📈 AI・エージェント時代に最適化</a:t>
            </a:r>
          </a:p>
          <a:p>
            <a:pPr lvl="0"/>
            <a:r>
              <a:rPr/>
              <a:t>🚀 今後の成長が期待される</a:t>
            </a:r>
          </a:p>
          <a:p>
            <a:pPr lvl="0"/>
            <a:r>
              <a:rPr/>
              <a:t>💡 AnthropicのClaude、他の大手AIツールが採用開始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🤝 併用も可能</a:t>
            </a:r>
          </a:p>
          <a:p>
            <a:pPr lvl="0" indent="0" marL="0">
              <a:buNone/>
            </a:pPr>
            <a:r>
              <a:rPr b="1"/>
              <a:t>重要:</a:t>
            </a:r>
            <a:r>
              <a:rPr/>
              <a:t> REST API と MCP は対立するものではありません。</a:t>
            </a:r>
          </a:p>
          <a:p>
            <a:pPr lvl="0" indent="0">
              <a:buNone/>
            </a:pPr>
            <a:r>
              <a:rPr>
                <a:latin typeface="Courier"/>
              </a:rPr>
              <a:t>外部向けAPI → REST API
     +
AI連携機能 → MCP</a:t>
            </a:r>
          </a:p>
          <a:p>
            <a:pPr lvl="0" indent="0" marL="0">
              <a:buNone/>
            </a:pPr>
            <a:r>
              <a:rPr b="1"/>
              <a:t>実際の例:</a:t>
            </a:r>
            <a:r>
              <a:rPr/>
              <a:t> - 一般ユーザー向け: REST API - Claude などのAIアシスタント向け: MCP - 両方を提供することで、幅広いユーザーに対応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まとめ: 5つのポイント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自己説明性</a:t>
            </a:r>
          </a:p>
          <a:p>
            <a:pPr lvl="0"/>
            <a:r>
              <a:rPr b="1"/>
              <a:t>REST API:</a:t>
            </a:r>
            <a:r>
              <a:rPr/>
              <a:t> ドキュメントを読む必要がある</a:t>
            </a:r>
          </a:p>
          <a:p>
            <a:pPr lvl="0"/>
            <a:r>
              <a:rPr b="1"/>
              <a:t>MCP:</a:t>
            </a:r>
            <a:r>
              <a:rPr/>
              <a:t> システムが「何ができるか」を自動で説明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AI対応</a:t>
            </a:r>
          </a:p>
          <a:p>
            <a:pPr lvl="0"/>
            <a:r>
              <a:rPr b="1"/>
              <a:t>REST API:</a:t>
            </a:r>
            <a:r>
              <a:rPr/>
              <a:t> AIに使わせるには追加設定が必要</a:t>
            </a:r>
          </a:p>
          <a:p>
            <a:pPr lvl="0"/>
            <a:r>
              <a:rPr b="1"/>
              <a:t>MCP:</a:t>
            </a:r>
            <a:r>
              <a:rPr/>
              <a:t> AIがそのまま理解して使える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変更への対応</a:t>
            </a:r>
          </a:p>
          <a:p>
            <a:pPr lvl="0"/>
            <a:r>
              <a:rPr b="1"/>
              <a:t>REST API:</a:t>
            </a:r>
            <a:r>
              <a:rPr/>
              <a:t> 変更時にドキュメントも更新が必要</a:t>
            </a:r>
          </a:p>
          <a:p>
            <a:pPr lvl="0"/>
            <a:r>
              <a:rPr b="1"/>
              <a:t>MCP:</a:t>
            </a:r>
            <a:r>
              <a:rPr/>
              <a:t> システムが自動で最新情報を提供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使い分け</a:t>
            </a:r>
          </a:p>
          <a:p>
            <a:pPr lvl="0"/>
            <a:r>
              <a:rPr b="1"/>
              <a:t>REST API:</a:t>
            </a:r>
            <a:r>
              <a:rPr/>
              <a:t> 一般的なWebサービス、外部公開API</a:t>
            </a:r>
          </a:p>
          <a:p>
            <a:pPr lvl="0"/>
            <a:r>
              <a:rPr b="1"/>
              <a:t>MCP:</a:t>
            </a:r>
            <a:r>
              <a:rPr/>
              <a:t> AI連携、社内ツール、エージェントシステム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将来性</a:t>
            </a:r>
          </a:p>
          <a:p>
            <a:pPr lvl="0"/>
            <a:r>
              <a:rPr b="1"/>
              <a:t>REST API:</a:t>
            </a:r>
            <a:r>
              <a:rPr/>
              <a:t> 実績豊富で安定</a:t>
            </a:r>
          </a:p>
          <a:p>
            <a:pPr lvl="0"/>
            <a:r>
              <a:rPr b="1"/>
              <a:t>MCP:</a:t>
            </a:r>
            <a:r>
              <a:rPr/>
              <a:t> AI時代の新しい標準として期待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🎓 Next Steps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興味を持たれた方へ</a:t>
            </a:r>
          </a:p>
          <a:p>
            <a:pPr lvl="0" indent="-342900" marL="342900">
              <a:buAutoNum type="arabicPeriod"/>
            </a:pPr>
            <a:r>
              <a:rPr b="1"/>
              <a:t>体験してみる</a:t>
            </a:r>
          </a:p>
          <a:p>
            <a:pPr lvl="1"/>
            <a:r>
              <a:rPr/>
              <a:t>このフォルダの </a:t>
            </a:r>
            <a:r>
              <a:rPr>
                <a:latin typeface="Courier"/>
              </a:rPr>
              <a:t>guide.md</a:t>
            </a:r>
            <a:r>
              <a:rPr/>
              <a:t> で実際に動かせます</a:t>
            </a:r>
          </a:p>
          <a:p>
            <a:pPr lvl="1"/>
            <a:r>
              <a:rPr/>
              <a:t>エンジニアと一緒に5分試すだけで実感できます</a:t>
            </a:r>
          </a:p>
          <a:p>
            <a:pPr lvl="0" indent="-342900" marL="342900">
              <a:buAutoNum type="arabicPeriod"/>
            </a:pPr>
            <a:r>
              <a:rPr b="1"/>
              <a:t>ビジネス検討</a:t>
            </a:r>
          </a:p>
          <a:p>
            <a:pPr lvl="1"/>
            <a:r>
              <a:rPr/>
              <a:t>自社のAI活用戦略にMCPが合うか検討</a:t>
            </a:r>
          </a:p>
          <a:p>
            <a:pPr lvl="1"/>
            <a:r>
              <a:rPr/>
              <a:t>パイロットプロジェクトの企画</a:t>
            </a:r>
          </a:p>
          <a:p>
            <a:pPr lvl="0" indent="-342900" marL="342900">
              <a:buAutoNum type="arabicPeriod"/>
            </a:pPr>
            <a:r>
              <a:rPr b="1"/>
              <a:t>詳細を学ぶ</a:t>
            </a:r>
          </a:p>
          <a:p>
            <a:pPr lvl="1"/>
            <a:r>
              <a:rPr/>
              <a:t>技術詳細は </a:t>
            </a:r>
            <a:r>
              <a:rPr>
                <a:latin typeface="Courier"/>
              </a:rPr>
              <a:t>guide.md</a:t>
            </a:r>
            <a:r>
              <a:rPr/>
              <a:t> を参照</a:t>
            </a:r>
          </a:p>
          <a:p>
            <a:pPr lvl="1"/>
            <a:r>
              <a:rPr/>
              <a:t>エンジニアチームと相談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📞 よくある質問</a:t>
            </a:r>
          </a:p>
          <a:p>
            <a:pPr lvl="0" indent="0" marL="0">
              <a:buNone/>
            </a:pPr>
            <a:r>
              <a:rPr b="1"/>
              <a:t>Q: REST APIを使っていますが、MCPに移行すべき？</a:t>
            </a:r>
            <a:br/>
            <a:r>
              <a:rPr/>
              <a:t>A: いいえ、必ずしもその必要はありません。既存のREST APIはそのまま使い続け、AI連携が必要な部分だけMCPを追加することも可能です。</a:t>
            </a:r>
          </a:p>
          <a:p>
            <a:pPr lvl="0" indent="0" marL="0">
              <a:buNone/>
            </a:pPr>
            <a:r>
              <a:rPr b="1"/>
              <a:t>Q: MCPは難しい技術ですか？</a:t>
            </a:r>
            <a:br/>
            <a:r>
              <a:rPr/>
              <a:t>A: エンジニアにとっては新しい概念ですが、REST APIと比べて特別に難しいわけではありません。むしろ、自己説明的な設計のため、使う側は楽になります。</a:t>
            </a:r>
          </a:p>
          <a:p>
            <a:pPr lvl="0" indent="0" marL="0">
              <a:buNone/>
            </a:pPr>
            <a:r>
              <a:rPr b="1"/>
              <a:t>Q: コストはどのくらい違う？</a:t>
            </a:r>
            <a:br/>
            <a:r>
              <a:rPr/>
              <a:t>A: 初期開発はやや増えますが、ドキュメント作成・メンテナンスのコストが大幅に削減されます。AI連携を考えると、トータルではコスト減の可能性が高いです。</a:t>
            </a:r>
          </a:p>
          <a:p>
            <a:pPr lvl="0" indent="0" marL="0">
              <a:buNone/>
            </a:pPr>
            <a:r>
              <a:rPr b="1"/>
              <a:t>Q: いつまでに導入を検討すべき？</a:t>
            </a:r>
            <a:br/>
            <a:r>
              <a:rPr/>
              <a:t>A: AI活用を進めている企業は、今から検証開始をお勧めします。2-3年後には標準的な選択肢の一つになると予想されます。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作成日:</a:t>
            </a:r>
            <a:r>
              <a:rPr/>
              <a:t> 2025年12月</a:t>
            </a:r>
            <a:br/>
            <a:r>
              <a:rPr b="1"/>
              <a:t>対象読者:</a:t>
            </a:r>
            <a:r>
              <a:rPr/>
              <a:t> 非エンジニアのビジネスユーザー</a:t>
            </a:r>
            <a:br/>
            <a:r>
              <a:rPr b="1"/>
              <a:t>技術詳細:</a:t>
            </a:r>
            <a:r>
              <a:rPr/>
              <a:t> </a:t>
            </a:r>
            <a:r>
              <a:rPr>
                <a:hlinkClick r:id="rId2"/>
              </a:rPr>
              <a:t>guide.md</a:t>
            </a:r>
            <a:r>
              <a:rPr/>
              <a:t> を参照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2025-12-04T14:15:02Z</dcterms:created>
  <dcterms:modified xsi:type="dcterms:W3CDTF">2025-12-04T14:15:02Z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