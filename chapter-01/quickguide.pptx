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 APIとMCP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5分でわかる比較ガイド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2025年12月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本日の内容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REST APIとMCPの違い</a:t>
            </a:r>
          </a:p>
          <a:p>
            <a:pPr lvl="0"/>
            <a:r>
              <a:rPr/>
              <a:t>レストランの例えで理解</a:t>
            </a:r>
          </a:p>
          <a:p>
            <a:pPr lvl="0"/>
            <a:r>
              <a:rPr/>
              <a:t>ビジネス価値の比較</a:t>
            </a:r>
          </a:p>
          <a:p>
            <a:pPr lvl="0"/>
            <a:r>
              <a:rPr/>
              <a:t>具体的なユースケース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🤔 一言で言うと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REST API</a:t>
            </a:r>
          </a:p>
          <a:p>
            <a:pPr lvl="0" indent="0" marL="0">
              <a:buNone/>
            </a:pPr>
            <a:r>
              <a:rPr b="1"/>
              <a:t>レストランのメニュー（紙）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MCP</a:t>
            </a:r>
          </a:p>
          <a:p>
            <a:pPr lvl="0" indent="0" marL="0">
              <a:buNone/>
            </a:pPr>
            <a:r>
              <a:rPr b="1"/>
              <a:t>スマートなウェイター（AI対応）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REST API = 紙のメニュー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使い方</a:t>
            </a:r>
          </a:p>
          <a:p>
            <a:pPr lvl="0" indent="-342900" marL="342900">
              <a:buAutoNum type="arabicPeriod"/>
            </a:pPr>
            <a:r>
              <a:rPr/>
              <a:t>紙のメニューを見る</a:t>
            </a:r>
          </a:p>
          <a:p>
            <a:pPr lvl="0" indent="-342900" marL="342900">
              <a:buAutoNum type="arabicPeriod"/>
            </a:pPr>
            <a:r>
              <a:rPr/>
              <a:t>注文を伝える</a:t>
            </a:r>
          </a:p>
          <a:p>
            <a:pPr lvl="0" indent="-342900" marL="342900">
              <a:buAutoNum type="arabicPeriod"/>
            </a:pPr>
            <a:r>
              <a:rPr/>
              <a:t>ウェイターが持ってくる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REST APIの特徴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✅ メリット</a:t>
            </a:r>
          </a:p>
          <a:p>
            <a:pPr lvl="0"/>
            <a:r>
              <a:rPr/>
              <a:t>シンプルで分かりやすい</a:t>
            </a:r>
          </a:p>
          <a:p>
            <a:pPr lvl="0"/>
            <a:r>
              <a:rPr/>
              <a:t>誰でも使える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❌ デメリット</a:t>
            </a:r>
          </a:p>
          <a:p>
            <a:pPr lvl="0"/>
            <a:r>
              <a:rPr/>
              <a:t>メニューに載っていない料理は注文不可</a:t>
            </a:r>
          </a:p>
          <a:p>
            <a:pPr lvl="0"/>
            <a:r>
              <a:rPr/>
              <a:t>メニュー更新が手動</a:t>
            </a:r>
          </a:p>
          <a:p>
            <a:pPr lvl="0"/>
            <a:r>
              <a:rPr/>
              <a:t>ウェイターに質問できない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MCP = スマートウェイター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使い方</a:t>
            </a:r>
          </a:p>
          <a:p>
            <a:pPr lvl="0" indent="-342900" marL="342900">
              <a:buAutoNum type="arabicPeriod"/>
            </a:pPr>
            <a:r>
              <a:rPr/>
              <a:t>ウェイターに話しかける</a:t>
            </a:r>
          </a:p>
          <a:p>
            <a:pPr lvl="0" indent="-342900" marL="342900">
              <a:buAutoNum type="arabicPeriod"/>
            </a:pPr>
            <a:r>
              <a:rPr/>
              <a:t>「今日のメニューは？」と聞く</a:t>
            </a:r>
          </a:p>
          <a:p>
            <a:pPr lvl="0" indent="-342900" marL="342900">
              <a:buAutoNum type="arabicPeriod"/>
            </a:pPr>
            <a:r>
              <a:rPr/>
              <a:t>ウェイターが説明＆提案</a:t>
            </a:r>
          </a:p>
          <a:p>
            <a:pPr lvl="0" indent="-342900" marL="342900">
              <a:buAutoNum type="arabicPeriod"/>
            </a:pPr>
            <a:r>
              <a:rPr/>
              <a:t>対話的に注文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MCPの特徴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✅ メリット</a:t>
            </a:r>
          </a:p>
          <a:p>
            <a:pPr lvl="0"/>
            <a:r>
              <a:rPr/>
              <a:t>システムが「何ができるか」を説明</a:t>
            </a:r>
          </a:p>
          <a:p>
            <a:pPr lvl="0"/>
            <a:r>
              <a:rPr/>
              <a:t>AIと対話しながら使える</a:t>
            </a:r>
          </a:p>
          <a:p>
            <a:pPr lvl="0"/>
            <a:r>
              <a:rPr/>
              <a:t>メニュー変更に自動対応</a:t>
            </a:r>
          </a:p>
          <a:p>
            <a:pPr lvl="0"/>
            <a:r>
              <a:rPr/>
              <a:t>質問に答えられる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実際の使い方（1/2）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タスク一覧の取得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REST API</a:t>
            </a:r>
          </a:p>
          <a:p>
            <a:pPr lvl="0" indent="0">
              <a:buNone/>
            </a:pPr>
            <a:r>
              <a:rPr>
                <a:latin typeface="Courier"/>
              </a:rPr>
              <a:t>http://example.com/tasks にアクセス
→ タスク一覧表示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MCP</a:t>
            </a:r>
          </a:p>
          <a:p>
            <a:pPr lvl="0" indent="0">
              <a:buNone/>
            </a:pPr>
            <a:r>
              <a:rPr>
                <a:latin typeface="Courier"/>
              </a:rPr>
              <a:t>AI: 「何ができる？」
→ システム: 「タスク一覧を見れます」
→ AI: 「見せて」
→ タスク一覧表示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実際の使い方（2/2）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新規タスクの作成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REST API</a:t>
            </a:r>
          </a:p>
          <a:p>
            <a:pPr lvl="0" indent="0">
              <a:buNone/>
            </a:pPr>
            <a:r>
              <a:rPr>
                <a:latin typeface="Courier"/>
              </a:rPr>
              <a:t>POST /tasks に JSONデータ送信
→ 事前にURLとフォーマットを知る必要がある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MCP</a:t>
            </a:r>
          </a:p>
          <a:p>
            <a:pPr lvl="0" indent="0">
              <a:buNone/>
            </a:pPr>
            <a:r>
              <a:rPr>
                <a:latin typeface="Courier"/>
              </a:rPr>
              <a:t>AI: 「どんな操作ができる？」
→ システム: 「create_taskで作成できます」
→ AI: 「タスクを作成して」
→ 作成完了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ビジネス価値の比較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REST API の評価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観点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評価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導入のしやすさ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⭐⭐⭐⭐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開発コスト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⭐⭐⭐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ドキュメント作成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⭐⭐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AI連携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⭐⭐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変更への対応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⭐⭐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向いているケース</a:t>
            </a:r>
            <a:r>
              <a:rPr/>
              <a:t> - Webサイト、モバイルアプリ - 外部公開API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MCPの評価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観点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評価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導入のしやすさ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⭐⭐⭐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開発コスト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⭐⭐⭐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ドキュメント作成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⭐⭐⭐⭐⭐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AI連携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⭐⭐⭐⭐⭐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変更への対応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⭐⭐⭐⭐⭐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向いているケース</a:t>
            </a:r>
            <a:r>
              <a:rPr/>
              <a:t> - AIアシスタント統合 - 社内業務自動化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💡 REST API が適している例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✅ ECサイトのAPI</a:t>
            </a:r>
          </a:p>
          <a:p>
            <a:pPr lvl="0"/>
            <a:r>
              <a:rPr/>
              <a:t>商品検索、カート、注文</a:t>
            </a:r>
          </a:p>
          <a:p>
            <a:pPr lvl="0"/>
            <a:r>
              <a:rPr/>
              <a:t>多くのユーザーが同じ方法で使用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✅ SNSのAPI</a:t>
            </a:r>
          </a:p>
          <a:p>
            <a:pPr lvl="0"/>
            <a:r>
              <a:rPr/>
              <a:t>投稿、いいね、フォロー</a:t>
            </a:r>
          </a:p>
          <a:p>
            <a:pPr lvl="0"/>
            <a:r>
              <a:rPr/>
              <a:t>広く使われる標準的な機能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💡 MCPが適している例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✅ AIアシスタント連携</a:t>
            </a:r>
          </a:p>
          <a:p>
            <a:pPr lvl="0"/>
            <a:r>
              <a:rPr/>
              <a:t>「会議資料を準備して」</a:t>
            </a:r>
          </a:p>
          <a:p>
            <a:pPr lvl="0"/>
            <a:r>
              <a:rPr/>
              <a:t>AIが必要なツールを自動選択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✅ 社内業務の自動化</a:t>
            </a:r>
          </a:p>
          <a:p>
            <a:pPr lvl="0"/>
            <a:r>
              <a:rPr/>
              <a:t>機能が頻繁に追加・変更</a:t>
            </a:r>
          </a:p>
          <a:p>
            <a:pPr lvl="0"/>
            <a:r>
              <a:rPr/>
              <a:t>部署ごとに使い方が違う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✅ 複雑な業務フロー</a:t>
            </a:r>
          </a:p>
          <a:p>
            <a:pPr lvl="0"/>
            <a:r>
              <a:rPr/>
              <a:t>AIが複数のツールを組み合わせ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📈 将来性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REST API</a:t>
            </a:r>
          </a:p>
          <a:p>
            <a:pPr lvl="0"/>
            <a:r>
              <a:rPr/>
              <a:t>✅ 広く普及済み</a:t>
            </a:r>
          </a:p>
          <a:p>
            <a:pPr lvl="0"/>
            <a:r>
              <a:rPr/>
              <a:t>✅ 豊富なツール・ライブラリ</a:t>
            </a:r>
          </a:p>
          <a:p>
            <a:pPr lvl="0"/>
            <a:r>
              <a:rPr/>
              <a:t>⚠️ AI時代は追加工夫が必要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MCP</a:t>
            </a:r>
          </a:p>
          <a:p>
            <a:pPr lvl="0"/>
            <a:r>
              <a:rPr/>
              <a:t>🆕 2024年登場の新技術</a:t>
            </a:r>
          </a:p>
          <a:p>
            <a:pPr lvl="0"/>
            <a:r>
              <a:rPr/>
              <a:t>📈 AI・エージェント時代に最適</a:t>
            </a:r>
          </a:p>
          <a:p>
            <a:pPr lvl="0"/>
            <a:r>
              <a:rPr/>
              <a:t>🚀 今後の成長が期待</a:t>
            </a:r>
          </a:p>
          <a:p>
            <a:pPr lvl="0"/>
            <a:r>
              <a:rPr/>
              <a:t>💡 AnthropicのClaudeが採用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🤝 併用も可能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使い分け</a:t>
            </a:r>
          </a:p>
          <a:p>
            <a:pPr lvl="0" indent="0">
              <a:buNone/>
            </a:pPr>
            <a:r>
              <a:rPr>
                <a:latin typeface="Courier"/>
              </a:rPr>
              <a:t>外部向けAPI → REST API
     +
AI連携機能 → MCP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実際の例</a:t>
            </a:r>
          </a:p>
          <a:p>
            <a:pPr lvl="0"/>
            <a:r>
              <a:rPr/>
              <a:t>一般ユーザー向け: REST API</a:t>
            </a:r>
          </a:p>
          <a:p>
            <a:pPr lvl="0"/>
            <a:r>
              <a:rPr/>
              <a:t>AIアシスタント向け: MCP</a:t>
            </a:r>
          </a:p>
          <a:p>
            <a:pPr lvl="0"/>
            <a:r>
              <a:rPr b="1"/>
              <a:t>両方を提供可能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まとめ: 5つのポイント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自己説明性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REST API:</a:t>
            </a:r>
            <a:r>
              <a:rPr/>
              <a:t> ドキュメントを読む必要がある</a:t>
            </a:r>
          </a:p>
          <a:p>
            <a:pPr lvl="0"/>
            <a:r>
              <a:rPr b="1"/>
              <a:t>MCP:</a:t>
            </a:r>
            <a:r>
              <a:rPr/>
              <a:t> システムが「何ができるか」を自動で説明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AI対応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REST API:</a:t>
            </a:r>
            <a:r>
              <a:rPr/>
              <a:t> AIに使わせるには追加設定が必要</a:t>
            </a:r>
          </a:p>
          <a:p>
            <a:pPr lvl="0"/>
            <a:r>
              <a:rPr b="1"/>
              <a:t>MCP:</a:t>
            </a:r>
            <a:r>
              <a:rPr/>
              <a:t> AIがそのまま理解して使える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変更への対応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REST API:</a:t>
            </a:r>
            <a:r>
              <a:rPr/>
              <a:t> 変更時にドキュメントも更新が必要</a:t>
            </a:r>
          </a:p>
          <a:p>
            <a:pPr lvl="0"/>
            <a:r>
              <a:rPr b="1"/>
              <a:t>MCP:</a:t>
            </a:r>
            <a:r>
              <a:rPr/>
              <a:t> システムが自動で最新情報を提供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使い分け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REST API:</a:t>
            </a:r>
            <a:r>
              <a:rPr/>
              <a:t> 一般的なWebサービス、外部公開API</a:t>
            </a:r>
          </a:p>
          <a:p>
            <a:pPr lvl="0"/>
            <a:r>
              <a:rPr b="1"/>
              <a:t>MCP:</a:t>
            </a:r>
            <a:r>
              <a:rPr/>
              <a:t> AI連携、社内ツール、エージェントシステム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将来性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REST API:</a:t>
            </a:r>
            <a:r>
              <a:rPr/>
              <a:t> 実績豊富で安定</a:t>
            </a:r>
          </a:p>
          <a:p>
            <a:pPr lvl="0"/>
            <a:r>
              <a:rPr b="1"/>
              <a:t>MCP:</a:t>
            </a:r>
            <a:r>
              <a:rPr/>
              <a:t> AI時代の新しい標準として期待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💡 よくある質問（1/3）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Q: REST APIから移行すべき？</a:t>
            </a:r>
          </a:p>
          <a:p>
            <a:pPr lvl="0" indent="0" marL="0">
              <a:buNone/>
            </a:pPr>
            <a:r>
              <a:rPr b="1"/>
              <a:t>A:</a:t>
            </a:r>
            <a:r>
              <a:rPr/>
              <a:t> いいえ。既存のREST APIはそのまま継続。</a:t>
            </a:r>
            <a:br/>
            <a:r>
              <a:rPr/>
              <a:t>AI連携が必要な部分だけMCPを追加することも可能。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💡 よくある質問（2/3）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Q: MCPは難しい技術？</a:t>
            </a:r>
          </a:p>
          <a:p>
            <a:pPr lvl="0" indent="0" marL="0">
              <a:buNone/>
            </a:pPr>
            <a:r>
              <a:rPr b="1"/>
              <a:t>A:</a:t>
            </a:r>
            <a:r>
              <a:rPr/>
              <a:t> エンジニアにとって新しいですが、</a:t>
            </a:r>
            <a:br/>
            <a:r>
              <a:rPr/>
              <a:t>特別に難しくはありません。</a:t>
            </a:r>
            <a:br/>
            <a:r>
              <a:rPr/>
              <a:t>むしろ使う側は楽になります。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💡 よくある質問（3/3）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Q: いつまでに導入を検討すべき？</a:t>
            </a:r>
          </a:p>
          <a:p>
            <a:pPr lvl="0" indent="0" marL="0">
              <a:buNone/>
            </a:pPr>
            <a:r>
              <a:rPr b="1"/>
              <a:t>A:</a:t>
            </a:r>
            <a:r>
              <a:rPr/>
              <a:t> AI活用を進めている企業は、</a:t>
            </a:r>
            <a:br/>
            <a:r>
              <a:rPr/>
              <a:t>今から検証開始をお勧めします。</a:t>
            </a:r>
            <a:br/>
            <a:r>
              <a:rPr/>
              <a:t>2-3年後には標準的な選択肢の一つに。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🎓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体験してみる</a:t>
            </a:r>
          </a:p>
          <a:p>
            <a:pPr lvl="0"/>
            <a:r>
              <a:rPr/>
              <a:t>エンジニアと一緒に5分試す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ビジネス検討</a:t>
            </a:r>
          </a:p>
          <a:p>
            <a:pPr lvl="0"/>
            <a:r>
              <a:rPr/>
              <a:t>自社のAI活用戦略との適合性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 詳細を学ぶ</a:t>
            </a:r>
          </a:p>
          <a:p>
            <a:pPr lvl="0"/>
            <a:r>
              <a:rPr/>
              <a:t>技術詳細は guide.md を参照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ご清聴ありがとうございました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質問・お問い合わせ</a:t>
            </a:r>
          </a:p>
          <a:p>
            <a:pPr lvl="0" indent="0" marL="0">
              <a:buNone/>
            </a:pPr>
            <a:r>
              <a:rPr/>
              <a:t>詳細な技術ドキュメント:</a:t>
            </a:r>
            <a:br/>
            <a:r>
              <a:rPr>
                <a:latin typeface="Courier"/>
              </a:rPr>
              <a:t>guide.md</a:t>
            </a:r>
            <a:r>
              <a:rPr/>
              <a:t> を参照してください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REST APIとMCP</dc:title>
  <dc:creator/>
  <cp:keywords/>
  <dcterms:created xsi:type="dcterms:W3CDTF">2025-12-04T14:18:34Z</dcterms:created>
  <dcterms:modified xsi:type="dcterms:W3CDTF">2025-12-04T14:18:34Z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2025年12月</vt:lpwstr>
  </property>
  <property fmtid="{D5CDD505-2E9C-101B-9397-08002B2CF9AE}" pid="3" name="subtitle">
    <vt:lpwstr>5分でわかる比較ガイド</vt:lpwstr>
  </property>
</Properties>
</file>